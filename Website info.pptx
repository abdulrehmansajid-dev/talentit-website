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7" r:id="rId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43169E"/>
    <a:srgbClr val="250C58"/>
    <a:srgbClr val="2C0E68"/>
    <a:srgbClr val="969696"/>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044" autoAdjust="0"/>
    <p:restoredTop sz="94660"/>
  </p:normalViewPr>
  <p:slideViewPr>
    <p:cSldViewPr snapToGrid="0">
      <p:cViewPr varScale="1">
        <p:scale>
          <a:sx n="82" d="100"/>
          <a:sy n="82" d="100"/>
        </p:scale>
        <p:origin x="715" y="5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3"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tableStyles" Target="tableStyles.xml"/><Relationship Id="rId5" Type="http://schemas.openxmlformats.org/officeDocument/2006/relationships/theme" Target="theme/theme1.xml"/><Relationship Id="rId4"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p>
            <a:fld id="{FDE1507D-1BBB-45C2-BA6B-D4E2FE7AFDE4}" type="datetimeFigureOut">
              <a:rPr lang="en-US" smtClean="0"/>
              <a:t>5/15/2026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6B8D1F6-F523-4C22-BD86-87DA801060D7}" type="slidenum">
              <a:rPr lang="en-US" smtClean="0"/>
              <a:t>‹#›</a:t>
            </a:fld>
            <a:endParaRPr lang="en-US"/>
          </a:p>
        </p:txBody>
      </p:sp>
    </p:spTree>
    <p:extLst>
      <p:ext uri="{BB962C8B-B14F-4D97-AF65-F5344CB8AC3E}">
        <p14:creationId xmlns:p14="http://schemas.microsoft.com/office/powerpoint/2010/main" val="270942502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FDE1507D-1BBB-45C2-BA6B-D4E2FE7AFDE4}" type="datetimeFigureOut">
              <a:rPr lang="en-US" smtClean="0"/>
              <a:t>5/15/2026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6B8D1F6-F523-4C22-BD86-87DA801060D7}" type="slidenum">
              <a:rPr lang="en-US" smtClean="0"/>
              <a:t>‹#›</a:t>
            </a:fld>
            <a:endParaRPr lang="en-US"/>
          </a:p>
        </p:txBody>
      </p:sp>
    </p:spTree>
    <p:extLst>
      <p:ext uri="{BB962C8B-B14F-4D97-AF65-F5344CB8AC3E}">
        <p14:creationId xmlns:p14="http://schemas.microsoft.com/office/powerpoint/2010/main" val="159000673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FDE1507D-1BBB-45C2-BA6B-D4E2FE7AFDE4}" type="datetimeFigureOut">
              <a:rPr lang="en-US" smtClean="0"/>
              <a:t>5/15/2026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6B8D1F6-F523-4C22-BD86-87DA801060D7}" type="slidenum">
              <a:rPr lang="en-US" smtClean="0"/>
              <a:t>‹#›</a:t>
            </a:fld>
            <a:endParaRPr lang="en-US"/>
          </a:p>
        </p:txBody>
      </p:sp>
    </p:spTree>
    <p:extLst>
      <p:ext uri="{BB962C8B-B14F-4D97-AF65-F5344CB8AC3E}">
        <p14:creationId xmlns:p14="http://schemas.microsoft.com/office/powerpoint/2010/main" val="231401202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FDE1507D-1BBB-45C2-BA6B-D4E2FE7AFDE4}" type="datetimeFigureOut">
              <a:rPr lang="en-US" smtClean="0"/>
              <a:t>5/15/2026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26B8D1F6-F523-4C22-BD86-87DA801060D7}" type="slidenum">
              <a:rPr lang="en-US" smtClean="0"/>
              <a:t>‹#›</a:t>
            </a:fld>
            <a:endParaRPr lang="en-US"/>
          </a:p>
        </p:txBody>
      </p:sp>
    </p:spTree>
    <p:extLst>
      <p:ext uri="{BB962C8B-B14F-4D97-AF65-F5344CB8AC3E}">
        <p14:creationId xmlns:p14="http://schemas.microsoft.com/office/powerpoint/2010/main" val="189153434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FDE1507D-1BBB-45C2-BA6B-D4E2FE7AFDE4}" type="datetimeFigureOut">
              <a:rPr lang="en-US" smtClean="0"/>
              <a:t>5/15/2026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26B8D1F6-F523-4C22-BD86-87DA801060D7}" type="slidenum">
              <a:rPr lang="en-US" smtClean="0"/>
              <a:t>‹#›</a:t>
            </a:fld>
            <a:endParaRPr lang="en-US"/>
          </a:p>
        </p:txBody>
      </p:sp>
    </p:spTree>
    <p:extLst>
      <p:ext uri="{BB962C8B-B14F-4D97-AF65-F5344CB8AC3E}">
        <p14:creationId xmlns:p14="http://schemas.microsoft.com/office/powerpoint/2010/main" val="9178586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FDE1507D-1BBB-45C2-BA6B-D4E2FE7AFDE4}" type="datetimeFigureOut">
              <a:rPr lang="en-US" smtClean="0"/>
              <a:t>5/15/2026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26B8D1F6-F523-4C22-BD86-87DA801060D7}" type="slidenum">
              <a:rPr lang="en-US" smtClean="0"/>
              <a:t>‹#›</a:t>
            </a:fld>
            <a:endParaRPr lang="en-US"/>
          </a:p>
        </p:txBody>
      </p:sp>
    </p:spTree>
    <p:extLst>
      <p:ext uri="{BB962C8B-B14F-4D97-AF65-F5344CB8AC3E}">
        <p14:creationId xmlns:p14="http://schemas.microsoft.com/office/powerpoint/2010/main" val="107497032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FDE1507D-1BBB-45C2-BA6B-D4E2FE7AFDE4}" type="datetimeFigureOut">
              <a:rPr lang="en-US" smtClean="0"/>
              <a:t>5/15/2026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26B8D1F6-F523-4C22-BD86-87DA801060D7}" type="slidenum">
              <a:rPr lang="en-US" smtClean="0"/>
              <a:t>‹#›</a:t>
            </a:fld>
            <a:endParaRPr lang="en-US"/>
          </a:p>
        </p:txBody>
      </p:sp>
    </p:spTree>
    <p:extLst>
      <p:ext uri="{BB962C8B-B14F-4D97-AF65-F5344CB8AC3E}">
        <p14:creationId xmlns:p14="http://schemas.microsoft.com/office/powerpoint/2010/main" val="118799772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FDE1507D-1BBB-45C2-BA6B-D4E2FE7AFDE4}" type="datetimeFigureOut">
              <a:rPr lang="en-US" smtClean="0"/>
              <a:t>5/15/2026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26B8D1F6-F523-4C22-BD86-87DA801060D7}" type="slidenum">
              <a:rPr lang="en-US" smtClean="0"/>
              <a:t>‹#›</a:t>
            </a:fld>
            <a:endParaRPr lang="en-US"/>
          </a:p>
        </p:txBody>
      </p:sp>
    </p:spTree>
    <p:extLst>
      <p:ext uri="{BB962C8B-B14F-4D97-AF65-F5344CB8AC3E}">
        <p14:creationId xmlns:p14="http://schemas.microsoft.com/office/powerpoint/2010/main" val="409659541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FDE1507D-1BBB-45C2-BA6B-D4E2FE7AFDE4}" type="datetimeFigureOut">
              <a:rPr lang="en-US" smtClean="0"/>
              <a:t>5/15/2026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26B8D1F6-F523-4C22-BD86-87DA801060D7}" type="slidenum">
              <a:rPr lang="en-US" smtClean="0"/>
              <a:t>‹#›</a:t>
            </a:fld>
            <a:endParaRPr lang="en-US"/>
          </a:p>
        </p:txBody>
      </p:sp>
    </p:spTree>
    <p:extLst>
      <p:ext uri="{BB962C8B-B14F-4D97-AF65-F5344CB8AC3E}">
        <p14:creationId xmlns:p14="http://schemas.microsoft.com/office/powerpoint/2010/main" val="384453668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FDE1507D-1BBB-45C2-BA6B-D4E2FE7AFDE4}" type="datetimeFigureOut">
              <a:rPr lang="en-US" smtClean="0"/>
              <a:t>5/15/2026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6B8D1F6-F523-4C22-BD86-87DA801060D7}" type="slidenum">
              <a:rPr lang="en-US" smtClean="0"/>
              <a:t>‹#›</a:t>
            </a:fld>
            <a:endParaRPr lang="en-US"/>
          </a:p>
        </p:txBody>
      </p:sp>
    </p:spTree>
    <p:extLst>
      <p:ext uri="{BB962C8B-B14F-4D97-AF65-F5344CB8AC3E}">
        <p14:creationId xmlns:p14="http://schemas.microsoft.com/office/powerpoint/2010/main" val="241291116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FDE1507D-1BBB-45C2-BA6B-D4E2FE7AFDE4}" type="datetimeFigureOut">
              <a:rPr lang="en-US" smtClean="0"/>
              <a:t>5/15/2026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6B8D1F6-F523-4C22-BD86-87DA801060D7}" type="slidenum">
              <a:rPr lang="en-US" smtClean="0"/>
              <a:t>‹#›</a:t>
            </a:fld>
            <a:endParaRPr lang="en-US"/>
          </a:p>
        </p:txBody>
      </p:sp>
    </p:spTree>
    <p:extLst>
      <p:ext uri="{BB962C8B-B14F-4D97-AF65-F5344CB8AC3E}">
        <p14:creationId xmlns:p14="http://schemas.microsoft.com/office/powerpoint/2010/main" val="98568589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FDE1507D-1BBB-45C2-BA6B-D4E2FE7AFDE4}" type="datetimeFigureOut">
              <a:rPr lang="en-US" smtClean="0"/>
              <a:t>5/15/2026</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26B8D1F6-F523-4C22-BD86-87DA801060D7}" type="slidenum">
              <a:rPr lang="en-US" smtClean="0"/>
              <a:t>‹#›</a:t>
            </a:fld>
            <a:endParaRPr lang="en-US"/>
          </a:p>
        </p:txBody>
      </p:sp>
    </p:spTree>
    <p:extLst>
      <p:ext uri="{BB962C8B-B14F-4D97-AF65-F5344CB8AC3E}">
        <p14:creationId xmlns:p14="http://schemas.microsoft.com/office/powerpoint/2010/main" val="108943582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jpeg"/><Relationship Id="rId1" Type="http://schemas.openxmlformats.org/officeDocument/2006/relationships/slideLayout" Target="../slideLayouts/slideLayout1.xml"/><Relationship Id="rId5" Type="http://schemas.openxmlformats.org/officeDocument/2006/relationships/image" Target="../media/image4.png"/><Relationship Id="rId4" Type="http://schemas.openxmlformats.org/officeDocument/2006/relationships/image" Target="../media/image3.jpe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A4BE3F2-7C44-0865-B055-C1271C91EFE9}"/>
            </a:ext>
          </a:extLst>
        </p:cNvPr>
        <p:cNvGrpSpPr/>
        <p:nvPr/>
      </p:nvGrpSpPr>
      <p:grpSpPr>
        <a:xfrm>
          <a:off x="0" y="0"/>
          <a:ext cx="0" cy="0"/>
          <a:chOff x="0" y="0"/>
          <a:chExt cx="0" cy="0"/>
        </a:xfrm>
      </p:grpSpPr>
      <p:pic>
        <p:nvPicPr>
          <p:cNvPr id="1032" name="Picture 8" descr="Image result for recruitment &amp; training">
            <a:extLst>
              <a:ext uri="{FF2B5EF4-FFF2-40B4-BE49-F238E27FC236}">
                <a16:creationId xmlns:a16="http://schemas.microsoft.com/office/drawing/2014/main" id="{F5C4629E-859F-B3A5-1775-22F3075B9F45}"/>
              </a:ext>
            </a:extLst>
          </p:cNvPr>
          <p:cNvPicPr>
            <a:picLocks noChangeAspect="1" noChangeArrowheads="1"/>
          </p:cNvPicPr>
          <p:nvPr/>
        </p:nvPicPr>
        <p:blipFill>
          <a:blip r:embed="rId2">
            <a:duotone>
              <a:schemeClr val="accent4">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0" y="1386798"/>
            <a:ext cx="12192000" cy="5547737"/>
          </a:xfrm>
          <a:prstGeom prst="rect">
            <a:avLst/>
          </a:prstGeom>
          <a:noFill/>
          <a:effectLst>
            <a:softEdge rad="12700"/>
          </a:effectLst>
          <a:extLst>
            <a:ext uri="{909E8E84-426E-40DD-AFC4-6F175D3DCCD1}">
              <a14:hiddenFill xmlns:a14="http://schemas.microsoft.com/office/drawing/2010/main">
                <a:solidFill>
                  <a:srgbClr val="FFFFFF"/>
                </a:solidFill>
              </a14:hiddenFill>
            </a:ext>
          </a:extLst>
        </p:spPr>
      </p:pic>
      <p:pic>
        <p:nvPicPr>
          <p:cNvPr id="1030" name="Picture 6" descr="Image result for recruitment &amp; training">
            <a:extLst>
              <a:ext uri="{FF2B5EF4-FFF2-40B4-BE49-F238E27FC236}">
                <a16:creationId xmlns:a16="http://schemas.microsoft.com/office/drawing/2014/main" id="{A2F70D78-7AC6-182B-1034-D5242EE26F4B}"/>
              </a:ext>
            </a:extLst>
          </p:cNvPr>
          <p:cNvPicPr>
            <a:picLocks noChangeAspect="1" noChangeArrowheads="1"/>
          </p:cNvPicPr>
          <p:nvPr/>
        </p:nvPicPr>
        <p:blipFill rotWithShape="1">
          <a:blip r:embed="rId3" cstate="print">
            <a:extLst>
              <a:ext uri="{28A0092B-C50C-407E-A947-70E740481C1C}">
                <a14:useLocalDpi xmlns:a14="http://schemas.microsoft.com/office/drawing/2010/main" val="0"/>
              </a:ext>
            </a:extLst>
          </a:blip>
          <a:srcRect t="4327" b="4807"/>
          <a:stretch/>
        </p:blipFill>
        <p:spPr bwMode="auto">
          <a:xfrm>
            <a:off x="9797143" y="112295"/>
            <a:ext cx="2041760" cy="1159210"/>
          </a:xfrm>
          <a:prstGeom prst="rect">
            <a:avLst/>
          </a:prstGeom>
          <a:noFill/>
          <a:extLst>
            <a:ext uri="{909E8E84-426E-40DD-AFC4-6F175D3DCCD1}">
              <a14:hiddenFill xmlns:a14="http://schemas.microsoft.com/office/drawing/2010/main">
                <a:solidFill>
                  <a:srgbClr val="FFFFFF"/>
                </a:solidFill>
              </a14:hiddenFill>
            </a:ext>
          </a:extLst>
        </p:spPr>
      </p:pic>
      <p:pic>
        <p:nvPicPr>
          <p:cNvPr id="1034" name="Picture 10" descr="Image result for recruitment &amp; training">
            <a:extLst>
              <a:ext uri="{FF2B5EF4-FFF2-40B4-BE49-F238E27FC236}">
                <a16:creationId xmlns:a16="http://schemas.microsoft.com/office/drawing/2014/main" id="{D5C08511-FDF2-2B7C-CD25-53A1F7FCF954}"/>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l="911" t="2790" r="2983"/>
          <a:stretch/>
        </p:blipFill>
        <p:spPr bwMode="auto">
          <a:xfrm>
            <a:off x="542930" y="112295"/>
            <a:ext cx="2694792" cy="1174979"/>
          </a:xfrm>
          <a:prstGeom prst="rect">
            <a:avLst/>
          </a:prstGeom>
          <a:noFill/>
          <a:extLst>
            <a:ext uri="{909E8E84-426E-40DD-AFC4-6F175D3DCCD1}">
              <a14:hiddenFill xmlns:a14="http://schemas.microsoft.com/office/drawing/2010/main">
                <a:solidFill>
                  <a:srgbClr val="FFFFFF"/>
                </a:solidFill>
              </a14:hiddenFill>
            </a:ext>
          </a:extLst>
        </p:spPr>
      </p:pic>
      <p:sp>
        <p:nvSpPr>
          <p:cNvPr id="5" name="TextBox 4">
            <a:extLst>
              <a:ext uri="{FF2B5EF4-FFF2-40B4-BE49-F238E27FC236}">
                <a16:creationId xmlns:a16="http://schemas.microsoft.com/office/drawing/2014/main" id="{B67BC645-2797-187F-B653-A1D11EF7DEBB}"/>
              </a:ext>
            </a:extLst>
          </p:cNvPr>
          <p:cNvSpPr txBox="1"/>
          <p:nvPr/>
        </p:nvSpPr>
        <p:spPr>
          <a:xfrm>
            <a:off x="5607698" y="1503529"/>
            <a:ext cx="6439581" cy="4768421"/>
          </a:xfrm>
          <a:prstGeom prst="rect">
            <a:avLst/>
          </a:prstGeom>
          <a:noFill/>
        </p:spPr>
        <p:txBody>
          <a:bodyPr wrap="square" rtlCol="0">
            <a:spAutoFit/>
          </a:bodyPr>
          <a:lstStyle/>
          <a:p>
            <a:pPr algn="just">
              <a:lnSpc>
                <a:spcPct val="150000"/>
              </a:lnSpc>
            </a:pPr>
            <a:r>
              <a:rPr lang="en-US" sz="1200" b="1" dirty="0">
                <a:solidFill>
                  <a:srgbClr val="2C0E68"/>
                </a:solidFill>
                <a:latin typeface="Maiandra GD" panose="020E0502030308020204" pitchFamily="34" charset="0"/>
              </a:rPr>
              <a:t>WORLD-CLASS HOSPITALITY TRAINING PROGRAMS</a:t>
            </a:r>
          </a:p>
          <a:p>
            <a:pPr algn="just">
              <a:lnSpc>
                <a:spcPct val="150000"/>
              </a:lnSpc>
            </a:pPr>
            <a:r>
              <a:rPr lang="en-US" sz="1200" dirty="0">
                <a:solidFill>
                  <a:srgbClr val="2C0E68"/>
                </a:solidFill>
                <a:latin typeface="Maiandra GD" panose="020E0502030308020204" pitchFamily="34" charset="0"/>
              </a:rPr>
              <a:t>Our team of training experts brings a wealth of experience from the world’s leading hotel chains. Having set the highest standards of service and quality for top global organizations, we are passionate about extending that same excellence to partners who believe that exceptional service is the backbone of hospitality.</a:t>
            </a:r>
          </a:p>
          <a:p>
            <a:pPr algn="just">
              <a:lnSpc>
                <a:spcPct val="150000"/>
              </a:lnSpc>
            </a:pPr>
            <a:endParaRPr lang="en-US" sz="1200" dirty="0">
              <a:solidFill>
                <a:srgbClr val="2C0E68"/>
              </a:solidFill>
              <a:latin typeface="Maiandra GD" panose="020E0502030308020204" pitchFamily="34" charset="0"/>
            </a:endParaRPr>
          </a:p>
          <a:p>
            <a:pPr algn="just">
              <a:lnSpc>
                <a:spcPct val="150000"/>
              </a:lnSpc>
            </a:pPr>
            <a:r>
              <a:rPr lang="en-US" sz="1200" b="1" dirty="0">
                <a:solidFill>
                  <a:srgbClr val="2C0E68"/>
                </a:solidFill>
                <a:latin typeface="Maiandra GD" panose="020E0502030308020204" pitchFamily="34" charset="0"/>
              </a:rPr>
              <a:t>Our Specialized Offerings:</a:t>
            </a:r>
          </a:p>
          <a:p>
            <a:pPr algn="just">
              <a:lnSpc>
                <a:spcPct val="150000"/>
              </a:lnSpc>
            </a:pPr>
            <a:r>
              <a:rPr lang="en-US" sz="1200" b="1" dirty="0">
                <a:solidFill>
                  <a:srgbClr val="2C0E68"/>
                </a:solidFill>
                <a:latin typeface="Maiandra GD" panose="020E0502030308020204" pitchFamily="34" charset="0"/>
              </a:rPr>
              <a:t>Bespoke Curriculum: </a:t>
            </a:r>
            <a:r>
              <a:rPr lang="en-US" sz="1200" dirty="0">
                <a:solidFill>
                  <a:srgbClr val="2C0E68"/>
                </a:solidFill>
                <a:latin typeface="Maiandra GD" panose="020E0502030308020204" pitchFamily="34" charset="0"/>
              </a:rPr>
              <a:t>Every program is fully customizable to meet the specific operational needs and culture of your hotel.</a:t>
            </a:r>
          </a:p>
          <a:p>
            <a:pPr algn="just">
              <a:lnSpc>
                <a:spcPct val="150000"/>
              </a:lnSpc>
            </a:pPr>
            <a:r>
              <a:rPr lang="en-US" sz="1200" b="1" dirty="0">
                <a:solidFill>
                  <a:srgbClr val="2C0E68"/>
                </a:solidFill>
                <a:latin typeface="Maiandra GD" panose="020E0502030308020204" pitchFamily="34" charset="0"/>
              </a:rPr>
              <a:t>On-Site Excellence: </a:t>
            </a:r>
            <a:r>
              <a:rPr lang="en-US" sz="1200" dirty="0">
                <a:solidFill>
                  <a:srgbClr val="2C0E68"/>
                </a:solidFill>
                <a:latin typeface="Maiandra GD" panose="020E0502030308020204" pitchFamily="34" charset="0"/>
              </a:rPr>
              <a:t>We deliver industry-specific, in-company training sessions directly at your property for maximum convenience and impact.</a:t>
            </a:r>
          </a:p>
          <a:p>
            <a:pPr algn="just">
              <a:lnSpc>
                <a:spcPct val="150000"/>
              </a:lnSpc>
            </a:pPr>
            <a:r>
              <a:rPr lang="en-US" sz="1200" b="1" dirty="0">
                <a:solidFill>
                  <a:srgbClr val="2C0E68"/>
                </a:solidFill>
                <a:latin typeface="Maiandra GD" panose="020E0502030308020204" pitchFamily="34" charset="0"/>
              </a:rPr>
              <a:t>Comprehensive Growth: </a:t>
            </a:r>
            <a:r>
              <a:rPr lang="en-US" sz="1200" dirty="0">
                <a:solidFill>
                  <a:srgbClr val="2C0E68"/>
                </a:solidFill>
                <a:latin typeface="Maiandra GD" panose="020E0502030308020204" pitchFamily="34" charset="0"/>
              </a:rPr>
              <a:t>We offer a diverse range of Soft Skills and Leadership Development programs, available as both exclusive in-house workshops and open-enrollment sessions.</a:t>
            </a:r>
          </a:p>
          <a:p>
            <a:pPr algn="just">
              <a:lnSpc>
                <a:spcPct val="150000"/>
              </a:lnSpc>
            </a:pPr>
            <a:r>
              <a:rPr lang="en-US" sz="1200" b="1" dirty="0">
                <a:solidFill>
                  <a:srgbClr val="2C0E68"/>
                </a:solidFill>
                <a:latin typeface="Maiandra GD" panose="020E0502030308020204" pitchFamily="34" charset="0"/>
              </a:rPr>
              <a:t>Elevate Your Standards:  </a:t>
            </a:r>
            <a:r>
              <a:rPr lang="en-US" sz="1200" dirty="0">
                <a:solidFill>
                  <a:srgbClr val="2C0E68"/>
                </a:solidFill>
                <a:latin typeface="Maiandra GD" panose="020E0502030308020204" pitchFamily="34" charset="0"/>
              </a:rPr>
              <a:t>From frontline service to executive leadership, we provide the tools to transform your guest experience and empower your team.</a:t>
            </a:r>
          </a:p>
          <a:p>
            <a:pPr algn="just">
              <a:lnSpc>
                <a:spcPct val="150000"/>
              </a:lnSpc>
            </a:pPr>
            <a:r>
              <a:rPr lang="en-US" sz="1200" b="1" dirty="0">
                <a:solidFill>
                  <a:srgbClr val="2C0E68"/>
                </a:solidFill>
                <a:latin typeface="Maiandra GD" panose="020E0502030308020204" pitchFamily="34" charset="0"/>
              </a:rPr>
              <a:t>Our Philosophy: </a:t>
            </a:r>
            <a:r>
              <a:rPr lang="en-US" sz="1200" dirty="0">
                <a:solidFill>
                  <a:srgbClr val="2C0E68"/>
                </a:solidFill>
                <a:latin typeface="Maiandra GD" panose="020E0502030308020204" pitchFamily="34" charset="0"/>
              </a:rPr>
              <a:t>Excellence is not an act, but a habit. We help your team build that habit every day.</a:t>
            </a:r>
            <a:endParaRPr lang="en-US" sz="1200" dirty="0">
              <a:solidFill>
                <a:srgbClr val="250C58"/>
              </a:solidFill>
              <a:latin typeface="Maiandra GD" panose="020E0502030308020204" pitchFamily="34" charset="0"/>
            </a:endParaRPr>
          </a:p>
        </p:txBody>
      </p:sp>
      <p:sp>
        <p:nvSpPr>
          <p:cNvPr id="12" name="TextBox 11">
            <a:extLst>
              <a:ext uri="{FF2B5EF4-FFF2-40B4-BE49-F238E27FC236}">
                <a16:creationId xmlns:a16="http://schemas.microsoft.com/office/drawing/2014/main" id="{F518D5BC-BC0F-1EBA-6B5B-F47A80831130}"/>
              </a:ext>
            </a:extLst>
          </p:cNvPr>
          <p:cNvSpPr txBox="1"/>
          <p:nvPr/>
        </p:nvSpPr>
        <p:spPr>
          <a:xfrm>
            <a:off x="144721" y="1568846"/>
            <a:ext cx="4791174" cy="4768421"/>
          </a:xfrm>
          <a:prstGeom prst="rect">
            <a:avLst/>
          </a:prstGeom>
          <a:noFill/>
        </p:spPr>
        <p:txBody>
          <a:bodyPr wrap="square" rtlCol="0">
            <a:spAutoFit/>
          </a:bodyPr>
          <a:lstStyle/>
          <a:p>
            <a:pPr algn="just">
              <a:lnSpc>
                <a:spcPct val="150000"/>
              </a:lnSpc>
            </a:pPr>
            <a:r>
              <a:rPr lang="en-US" sz="1200" b="1" dirty="0">
                <a:solidFill>
                  <a:srgbClr val="2C0E68"/>
                </a:solidFill>
                <a:latin typeface="Maiandra GD" panose="020E0502030308020204" pitchFamily="34" charset="0"/>
              </a:rPr>
              <a:t>TALENT HUNT / SEARCH &amp; SELECTION</a:t>
            </a:r>
          </a:p>
          <a:p>
            <a:pPr algn="just">
              <a:lnSpc>
                <a:spcPct val="150000"/>
              </a:lnSpc>
            </a:pPr>
            <a:r>
              <a:rPr lang="en-US" sz="1200" dirty="0">
                <a:solidFill>
                  <a:srgbClr val="2C0E68"/>
                </a:solidFill>
                <a:latin typeface="Maiandra GD" panose="020E0502030308020204" pitchFamily="34" charset="0"/>
              </a:rPr>
              <a:t>We understand the value of a precise Talent Hunt. As passionate recruiters with over two decades of recruitment expertise, we apply rigorous due diligence to identify candidates whose skills and behavioral traits align perfectly with your organizational needs, culture and customer service philosophy.</a:t>
            </a:r>
          </a:p>
          <a:p>
            <a:pPr algn="just">
              <a:lnSpc>
                <a:spcPct val="150000"/>
              </a:lnSpc>
            </a:pPr>
            <a:endParaRPr lang="en-US" sz="1200" dirty="0">
              <a:solidFill>
                <a:srgbClr val="2C0E68"/>
              </a:solidFill>
              <a:latin typeface="Maiandra GD" panose="020E0502030308020204" pitchFamily="34" charset="0"/>
            </a:endParaRPr>
          </a:p>
          <a:p>
            <a:pPr algn="just">
              <a:lnSpc>
                <a:spcPct val="150000"/>
              </a:lnSpc>
            </a:pPr>
            <a:r>
              <a:rPr lang="en-US" sz="1200" b="1" dirty="0">
                <a:solidFill>
                  <a:srgbClr val="2C0E68"/>
                </a:solidFill>
                <a:latin typeface="Maiandra GD" panose="020E0502030308020204" pitchFamily="34" charset="0"/>
              </a:rPr>
              <a:t>Why Choose Us?</a:t>
            </a:r>
          </a:p>
          <a:p>
            <a:pPr algn="just">
              <a:lnSpc>
                <a:spcPct val="150000"/>
              </a:lnSpc>
            </a:pPr>
            <a:r>
              <a:rPr lang="en-US" sz="1200" dirty="0">
                <a:solidFill>
                  <a:srgbClr val="2C0E68"/>
                </a:solidFill>
                <a:latin typeface="Maiandra GD" panose="020E0502030308020204" pitchFamily="34" charset="0"/>
              </a:rPr>
              <a:t>Hospitality Specialists: Our team brings more than 25 years of experience hiring hospitality professionals at all levels. We ensure that international standards and global norms are strictly upheld throughout the pre-screening and selection process.</a:t>
            </a:r>
          </a:p>
          <a:p>
            <a:pPr algn="just">
              <a:lnSpc>
                <a:spcPct val="150000"/>
              </a:lnSpc>
            </a:pPr>
            <a:r>
              <a:rPr lang="en-US" sz="1200" b="1" dirty="0">
                <a:solidFill>
                  <a:srgbClr val="2C0E68"/>
                </a:solidFill>
                <a:latin typeface="Maiandra GD" panose="020E0502030308020204" pitchFamily="34" charset="0"/>
              </a:rPr>
              <a:t>Strategic Retention: </a:t>
            </a:r>
            <a:r>
              <a:rPr lang="en-US" sz="1200" dirty="0">
                <a:solidFill>
                  <a:srgbClr val="2C0E68"/>
                </a:solidFill>
                <a:latin typeface="Maiandra GD" panose="020E0502030308020204" pitchFamily="34" charset="0"/>
              </a:rPr>
              <a:t>We guarantee our clients that talent retention is our #1 priority, starting from the very first point of </a:t>
            </a:r>
            <a:r>
              <a:rPr lang="en-US" sz="1200" b="1" dirty="0">
                <a:solidFill>
                  <a:srgbClr val="2C0E68"/>
                </a:solidFill>
                <a:latin typeface="Maiandra GD" panose="020E0502030308020204" pitchFamily="34" charset="0"/>
              </a:rPr>
              <a:t>contact.</a:t>
            </a:r>
          </a:p>
          <a:p>
            <a:pPr algn="just">
              <a:lnSpc>
                <a:spcPct val="150000"/>
              </a:lnSpc>
            </a:pPr>
            <a:r>
              <a:rPr lang="en-US" sz="1200" b="1" dirty="0">
                <a:solidFill>
                  <a:srgbClr val="2C0E68"/>
                </a:solidFill>
                <a:latin typeface="Maiandra GD" panose="020E0502030308020204" pitchFamily="34" charset="0"/>
              </a:rPr>
              <a:t>Proven Expertise: </a:t>
            </a:r>
            <a:r>
              <a:rPr lang="en-US" sz="1200" dirty="0">
                <a:solidFill>
                  <a:srgbClr val="2C0E68"/>
                </a:solidFill>
                <a:latin typeface="Maiandra GD" panose="020E0502030308020204" pitchFamily="34" charset="0"/>
              </a:rPr>
              <a:t>Our approach combines deep industry knowledge with a commitment to finding the right fit for your unique corporate culture. </a:t>
            </a:r>
            <a:endParaRPr lang="en-US" sz="1100" dirty="0">
              <a:solidFill>
                <a:srgbClr val="250C58"/>
              </a:solidFill>
              <a:latin typeface="Maiandra GD" panose="020E0502030308020204" pitchFamily="34" charset="0"/>
            </a:endParaRPr>
          </a:p>
        </p:txBody>
      </p:sp>
      <p:pic>
        <p:nvPicPr>
          <p:cNvPr id="3" name="Picture 2">
            <a:extLst>
              <a:ext uri="{FF2B5EF4-FFF2-40B4-BE49-F238E27FC236}">
                <a16:creationId xmlns:a16="http://schemas.microsoft.com/office/drawing/2014/main" id="{762EBD24-4A77-49E1-53CA-E4CD681B8D59}"/>
              </a:ext>
            </a:extLst>
          </p:cNvPr>
          <p:cNvPicPr>
            <a:picLocks noChangeAspect="1"/>
          </p:cNvPicPr>
          <p:nvPr/>
        </p:nvPicPr>
        <p:blipFill>
          <a:blip r:embed="rId5">
            <a:extLst>
              <a:ext uri="{28A0092B-C50C-407E-A947-70E740481C1C}">
                <a14:useLocalDpi xmlns:a14="http://schemas.microsoft.com/office/drawing/2010/main" val="0"/>
              </a:ext>
            </a:extLst>
          </a:blip>
          <a:srcRect t="23545" b="25236"/>
          <a:stretch>
            <a:fillRect/>
          </a:stretch>
        </p:blipFill>
        <p:spPr>
          <a:xfrm>
            <a:off x="4301412" y="130218"/>
            <a:ext cx="3853347" cy="914223"/>
          </a:xfrm>
          <a:prstGeom prst="rect">
            <a:avLst/>
          </a:prstGeom>
        </p:spPr>
      </p:pic>
      <p:sp>
        <p:nvSpPr>
          <p:cNvPr id="4" name="TextBox 3">
            <a:extLst>
              <a:ext uri="{FF2B5EF4-FFF2-40B4-BE49-F238E27FC236}">
                <a16:creationId xmlns:a16="http://schemas.microsoft.com/office/drawing/2014/main" id="{115CE0B0-8110-A2FD-39B3-455F5EE09D7F}"/>
              </a:ext>
            </a:extLst>
          </p:cNvPr>
          <p:cNvSpPr txBox="1"/>
          <p:nvPr/>
        </p:nvSpPr>
        <p:spPr>
          <a:xfrm>
            <a:off x="3662847" y="6358450"/>
            <a:ext cx="4491912" cy="369332"/>
          </a:xfrm>
          <a:prstGeom prst="rect">
            <a:avLst/>
          </a:prstGeom>
          <a:noFill/>
        </p:spPr>
        <p:txBody>
          <a:bodyPr wrap="square">
            <a:spAutoFit/>
          </a:bodyPr>
          <a:lstStyle/>
          <a:p>
            <a:r>
              <a:rPr lang="en-US" sz="1800" b="1" dirty="0">
                <a:solidFill>
                  <a:srgbClr val="2C0E68"/>
                </a:solidFill>
                <a:latin typeface="Maiandra GD" panose="020E0502030308020204" pitchFamily="34" charset="0"/>
              </a:rPr>
              <a:t>Your partner in building world-class teams</a:t>
            </a:r>
            <a:endParaRPr lang="en-AE" b="1" dirty="0"/>
          </a:p>
        </p:txBody>
      </p:sp>
    </p:spTree>
    <p:extLst>
      <p:ext uri="{BB962C8B-B14F-4D97-AF65-F5344CB8AC3E}">
        <p14:creationId xmlns:p14="http://schemas.microsoft.com/office/powerpoint/2010/main" val="2802096172"/>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308</TotalTime>
  <Words>322</Words>
  <Application>Microsoft Office PowerPoint</Application>
  <PresentationFormat>Widescreen</PresentationFormat>
  <Paragraphs>17</Paragraphs>
  <Slides>1</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vt:i4>
      </vt:variant>
    </vt:vector>
  </HeadingPairs>
  <TitlesOfParts>
    <vt:vector size="6" baseType="lpstr">
      <vt:lpstr>Arial</vt:lpstr>
      <vt:lpstr>Calibri</vt:lpstr>
      <vt:lpstr>Calibri Light</vt:lpstr>
      <vt:lpstr>Maiandra GD</vt:lpstr>
      <vt:lpstr>Office Theme</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Zabbasi</dc:creator>
  <cp:lastModifiedBy>Zamir Abbasi</cp:lastModifiedBy>
  <cp:revision>14</cp:revision>
  <dcterms:created xsi:type="dcterms:W3CDTF">2016-10-20T11:24:23Z</dcterms:created>
  <dcterms:modified xsi:type="dcterms:W3CDTF">2026-05-15T12:43:52Z</dcterms:modified>
</cp:coreProperties>
</file>